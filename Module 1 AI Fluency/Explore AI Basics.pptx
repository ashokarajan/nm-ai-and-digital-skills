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2" r:id="rId5"/>
    <p:sldId id="263" r:id="rId6"/>
    <p:sldId id="264" r:id="rId7"/>
    <p:sldId id="259" r:id="rId8"/>
    <p:sldId id="260" r:id="rId9"/>
    <p:sldId id="265" r:id="rId10"/>
    <p:sldId id="266" r:id="rId11"/>
    <p:sldId id="267" r:id="rId12"/>
    <p:sldId id="268" r:id="rId13"/>
    <p:sldId id="261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1" d="100"/>
          <a:sy n="61" d="100"/>
        </p:scale>
        <p:origin x="-1344" y="-5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9FAF66-1CD1-47A9-9C75-EE9243A213DB}" type="datetimeFigureOut">
              <a:rPr lang="en-IN" smtClean="0"/>
              <a:t>01-09-2026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B12646-3D10-4594-9F4B-BA3A4B14BE8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942669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9FAF66-1CD1-47A9-9C75-EE9243A213DB}" type="datetimeFigureOut">
              <a:rPr lang="en-IN" smtClean="0"/>
              <a:t>01-09-2026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B12646-3D10-4594-9F4B-BA3A4B14BE8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094245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9FAF66-1CD1-47A9-9C75-EE9243A213DB}" type="datetimeFigureOut">
              <a:rPr lang="en-IN" smtClean="0"/>
              <a:t>01-09-2026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B12646-3D10-4594-9F4B-BA3A4B14BE8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457831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9FAF66-1CD1-47A9-9C75-EE9243A213DB}" type="datetimeFigureOut">
              <a:rPr lang="en-IN" smtClean="0"/>
              <a:t>01-09-2026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B12646-3D10-4594-9F4B-BA3A4B14BE8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23915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9FAF66-1CD1-47A9-9C75-EE9243A213DB}" type="datetimeFigureOut">
              <a:rPr lang="en-IN" smtClean="0"/>
              <a:t>01-09-2026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B12646-3D10-4594-9F4B-BA3A4B14BE8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959704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9FAF66-1CD1-47A9-9C75-EE9243A213DB}" type="datetimeFigureOut">
              <a:rPr lang="en-IN" smtClean="0"/>
              <a:t>01-09-2026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B12646-3D10-4594-9F4B-BA3A4B14BE8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5272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9FAF66-1CD1-47A9-9C75-EE9243A213DB}" type="datetimeFigureOut">
              <a:rPr lang="en-IN" smtClean="0"/>
              <a:t>01-09-2026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B12646-3D10-4594-9F4B-BA3A4B14BE8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959419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9FAF66-1CD1-47A9-9C75-EE9243A213DB}" type="datetimeFigureOut">
              <a:rPr lang="en-IN" smtClean="0"/>
              <a:t>01-09-2026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B12646-3D10-4594-9F4B-BA3A4B14BE8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274937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9FAF66-1CD1-47A9-9C75-EE9243A213DB}" type="datetimeFigureOut">
              <a:rPr lang="en-IN" smtClean="0"/>
              <a:t>01-09-2026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B12646-3D10-4594-9F4B-BA3A4B14BE8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544806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9FAF66-1CD1-47A9-9C75-EE9243A213DB}" type="datetimeFigureOut">
              <a:rPr lang="en-IN" smtClean="0"/>
              <a:t>01-09-2026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B12646-3D10-4594-9F4B-BA3A4B14BE8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236175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9FAF66-1CD1-47A9-9C75-EE9243A213DB}" type="datetimeFigureOut">
              <a:rPr lang="en-IN" smtClean="0"/>
              <a:t>01-09-2026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B12646-3D10-4594-9F4B-BA3A4B14BE8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368665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49FAF66-1CD1-47A9-9C75-EE9243A213DB}" type="datetimeFigureOut">
              <a:rPr lang="en-IN" smtClean="0"/>
              <a:t>01-09-2026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EB12646-3D10-4594-9F4B-BA3A4B14BE8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833499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IN" b="1" dirty="0" smtClean="0">
                <a:solidFill>
                  <a:srgbClr val="FF0000"/>
                </a:solidFill>
              </a:rPr>
              <a:t>Explore </a:t>
            </a:r>
            <a:r>
              <a:rPr lang="en-IN" b="1" dirty="0" smtClean="0">
                <a:solidFill>
                  <a:srgbClr val="FF0000"/>
                </a:solidFill>
              </a:rPr>
              <a:t>AI Basics</a:t>
            </a:r>
            <a:endParaRPr lang="en-IN" b="1" dirty="0">
              <a:solidFill>
                <a:srgbClr val="FF0000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259120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>
                <a:solidFill>
                  <a:srgbClr val="0000CC"/>
                </a:solidFill>
              </a:rPr>
              <a:t>Introduction</a:t>
            </a:r>
            <a:endParaRPr lang="en-IN" dirty="0">
              <a:solidFill>
                <a:srgbClr val="0000CC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 smtClean="0">
                <a:latin typeface="Arial" pitchFamily="34" charset="0"/>
                <a:cs typeface="Arial" pitchFamily="34" charset="0"/>
              </a:rPr>
              <a:t>AI is the ability of machines to perform tasks that normally require human intelligence</a:t>
            </a:r>
            <a:r>
              <a:rPr lang="en-US" dirty="0" smtClean="0"/>
              <a:t>.</a:t>
            </a:r>
          </a:p>
          <a:p>
            <a:endParaRPr lang="en-US" dirty="0" smtClean="0"/>
          </a:p>
          <a:p>
            <a:pPr algn="just"/>
            <a:endParaRPr lang="en-IN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544" y="2996952"/>
            <a:ext cx="8396684" cy="2989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3370114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>
                <a:solidFill>
                  <a:srgbClr val="0000CC"/>
                </a:solidFill>
              </a:rPr>
              <a:t>AI vs. Human Intelligence</a:t>
            </a:r>
            <a:endParaRPr lang="en-IN" dirty="0">
              <a:solidFill>
                <a:srgbClr val="0000CC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40768"/>
            <a:ext cx="8229600" cy="525658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dirty="0" smtClean="0">
                <a:latin typeface="Arial" pitchFamily="34" charset="0"/>
                <a:cs typeface="Arial" pitchFamily="34" charset="0"/>
              </a:rPr>
              <a:t>AI and human intelligence are not the same.</a:t>
            </a:r>
            <a:endParaRPr lang="en-US" sz="2800" dirty="0">
              <a:latin typeface="Arial" pitchFamily="34" charset="0"/>
              <a:cs typeface="Arial" pitchFamily="34" charset="0"/>
            </a:endParaRPr>
          </a:p>
          <a:p>
            <a:r>
              <a:rPr lang="en-US" sz="2800" dirty="0" smtClean="0">
                <a:latin typeface="Arial" pitchFamily="34" charset="0"/>
                <a:cs typeface="Arial" pitchFamily="34" charset="0"/>
              </a:rPr>
              <a:t>Suppose you show a child </a:t>
            </a:r>
            <a:r>
              <a:rPr lang="en-US" sz="2800" b="1" dirty="0" smtClean="0">
                <a:latin typeface="Arial" pitchFamily="34" charset="0"/>
                <a:cs typeface="Arial" pitchFamily="34" charset="0"/>
              </a:rPr>
              <a:t>three pictures of cats</a:t>
            </a:r>
            <a:r>
              <a:rPr lang="en-US" sz="2800" dirty="0" smtClean="0">
                <a:latin typeface="Arial" pitchFamily="34" charset="0"/>
                <a:cs typeface="Arial" pitchFamily="34" charset="0"/>
              </a:rPr>
              <a:t>.</a:t>
            </a:r>
          </a:p>
          <a:p>
            <a:r>
              <a:rPr lang="en-US" sz="2800" dirty="0" smtClean="0">
                <a:latin typeface="Arial" pitchFamily="34" charset="0"/>
                <a:cs typeface="Arial" pitchFamily="34" charset="0"/>
              </a:rPr>
              <a:t>The child can probably understand that the pictures represent cats.</a:t>
            </a:r>
          </a:p>
          <a:p>
            <a:r>
              <a:rPr lang="en-US" sz="2800" dirty="0" smtClean="0">
                <a:latin typeface="Arial" pitchFamily="34" charset="0"/>
                <a:cs typeface="Arial" pitchFamily="34" charset="0"/>
              </a:rPr>
              <a:t>An AI image-recognition system may require </a:t>
            </a:r>
            <a:r>
              <a:rPr lang="en-US" sz="2800" b="1" dirty="0" smtClean="0">
                <a:latin typeface="Arial" pitchFamily="34" charset="0"/>
                <a:cs typeface="Arial" pitchFamily="34" charset="0"/>
              </a:rPr>
              <a:t>thousands or millions of examples</a:t>
            </a:r>
            <a:r>
              <a:rPr lang="en-US" sz="2800" dirty="0" smtClean="0">
                <a:latin typeface="Arial" pitchFamily="34" charset="0"/>
                <a:cs typeface="Arial" pitchFamily="34" charset="0"/>
              </a:rPr>
              <a:t> to learn the patterns associated with cats.</a:t>
            </a:r>
          </a:p>
          <a:p>
            <a:pPr marL="0" indent="0">
              <a:buNone/>
            </a:pPr>
            <a:endParaRPr lang="en-US" sz="2800" dirty="0" smtClean="0">
              <a:latin typeface="Arial" pitchFamily="34" charset="0"/>
              <a:cs typeface="Arial" pitchFamily="34" charset="0"/>
            </a:endParaRPr>
          </a:p>
          <a:p>
            <a:pPr marL="0" indent="0">
              <a:buNone/>
            </a:pPr>
            <a:endParaRPr lang="en-IN" sz="2800" dirty="0"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354945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-306288"/>
            <a:ext cx="8229600" cy="1143000"/>
          </a:xfrm>
        </p:spPr>
        <p:txBody>
          <a:bodyPr/>
          <a:lstStyle/>
          <a:p>
            <a:r>
              <a:rPr lang="en-IN" dirty="0" smtClean="0">
                <a:solidFill>
                  <a:srgbClr val="0000CC"/>
                </a:solidFill>
              </a:rPr>
              <a:t>AI vs. Human Intelligence</a:t>
            </a:r>
            <a:endParaRPr lang="en-IN" dirty="0">
              <a:solidFill>
                <a:srgbClr val="0000CC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40768"/>
            <a:ext cx="8229600" cy="5256584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sz="2800" dirty="0">
              <a:latin typeface="Arial" pitchFamily="34" charset="0"/>
              <a:cs typeface="Arial" pitchFamily="34" charset="0"/>
            </a:endParaRPr>
          </a:p>
          <a:p>
            <a:pPr marL="0" indent="0">
              <a:buNone/>
            </a:pPr>
            <a:endParaRPr lang="en-US" sz="2800" dirty="0" smtClean="0">
              <a:latin typeface="Arial" pitchFamily="34" charset="0"/>
              <a:cs typeface="Arial" pitchFamily="34" charset="0"/>
            </a:endParaRPr>
          </a:p>
          <a:p>
            <a:pPr marL="0" indent="0">
              <a:buNone/>
            </a:pPr>
            <a:endParaRPr lang="en-US" sz="2800" dirty="0">
              <a:latin typeface="Arial" pitchFamily="34" charset="0"/>
              <a:cs typeface="Arial" pitchFamily="34" charset="0"/>
            </a:endParaRPr>
          </a:p>
          <a:p>
            <a:pPr marL="0" indent="0">
              <a:buNone/>
            </a:pPr>
            <a:endParaRPr lang="en-US" sz="2800" dirty="0" smtClean="0">
              <a:latin typeface="Arial" pitchFamily="34" charset="0"/>
              <a:cs typeface="Arial" pitchFamily="34" charset="0"/>
            </a:endParaRPr>
          </a:p>
          <a:p>
            <a:pPr marL="0" indent="0">
              <a:buNone/>
            </a:pPr>
            <a:endParaRPr lang="en-US" sz="2800" dirty="0">
              <a:latin typeface="Arial" pitchFamily="34" charset="0"/>
              <a:cs typeface="Arial" pitchFamily="34" charset="0"/>
            </a:endParaRPr>
          </a:p>
          <a:p>
            <a:pPr marL="0" indent="0">
              <a:buNone/>
            </a:pPr>
            <a:endParaRPr lang="en-US" sz="2800" dirty="0" smtClean="0">
              <a:latin typeface="Arial" pitchFamily="34" charset="0"/>
              <a:cs typeface="Arial" pitchFamily="34" charset="0"/>
            </a:endParaRPr>
          </a:p>
          <a:p>
            <a:pPr marL="0" indent="0">
              <a:buNone/>
            </a:pPr>
            <a:endParaRPr lang="en-US" sz="2800" dirty="0" smtClean="0">
              <a:latin typeface="Arial" pitchFamily="34" charset="0"/>
              <a:cs typeface="Arial" pitchFamily="34" charset="0"/>
            </a:endParaRPr>
          </a:p>
          <a:p>
            <a:pPr marL="0" indent="0">
              <a:buNone/>
            </a:pPr>
            <a:endParaRPr lang="en-US" sz="2800" dirty="0" smtClean="0">
              <a:latin typeface="Arial" pitchFamily="34" charset="0"/>
              <a:cs typeface="Arial" pitchFamily="34" charset="0"/>
            </a:endParaRPr>
          </a:p>
          <a:p>
            <a:pPr marL="0" indent="0">
              <a:buNone/>
            </a:pPr>
            <a:endParaRPr lang="en-US" sz="2800" dirty="0">
              <a:latin typeface="Arial" pitchFamily="34" charset="0"/>
              <a:cs typeface="Arial" pitchFamily="34" charset="0"/>
            </a:endParaRPr>
          </a:p>
          <a:p>
            <a:pPr marL="0" indent="0">
              <a:buNone/>
            </a:pPr>
            <a:endParaRPr lang="en-US" sz="2800" dirty="0" smtClean="0">
              <a:latin typeface="Arial" pitchFamily="34" charset="0"/>
              <a:cs typeface="Arial" pitchFamily="34" charset="0"/>
            </a:endParaRPr>
          </a:p>
          <a:p>
            <a:pPr marL="0" indent="0">
              <a:buNone/>
            </a:pPr>
            <a:endParaRPr lang="en-US" sz="2800" dirty="0" smtClean="0">
              <a:latin typeface="Arial" pitchFamily="34" charset="0"/>
              <a:cs typeface="Arial" pitchFamily="34" charset="0"/>
            </a:endParaRPr>
          </a:p>
          <a:p>
            <a:pPr marL="0" indent="0">
              <a:buNone/>
            </a:pPr>
            <a:endParaRPr lang="en-IN" sz="2800" dirty="0">
              <a:latin typeface="Arial" pitchFamily="34" charset="0"/>
              <a:cs typeface="Arial" pitchFamily="34" charset="0"/>
            </a:endParaRP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809" y="620688"/>
            <a:ext cx="8804671" cy="58444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3158767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-306288"/>
            <a:ext cx="8229600" cy="1143000"/>
          </a:xfrm>
        </p:spPr>
        <p:txBody>
          <a:bodyPr/>
          <a:lstStyle/>
          <a:p>
            <a:r>
              <a:rPr lang="en-IN" dirty="0" smtClean="0">
                <a:solidFill>
                  <a:srgbClr val="0000CC"/>
                </a:solidFill>
              </a:rPr>
              <a:t>AI vs. Human Intelligence</a:t>
            </a:r>
            <a:endParaRPr lang="en-IN" dirty="0">
              <a:solidFill>
                <a:srgbClr val="0000CC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40768"/>
            <a:ext cx="8229600" cy="5256584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sz="2800" dirty="0">
              <a:latin typeface="Arial" pitchFamily="34" charset="0"/>
              <a:cs typeface="Arial" pitchFamily="34" charset="0"/>
            </a:endParaRPr>
          </a:p>
          <a:p>
            <a:pPr marL="0" indent="0">
              <a:buNone/>
            </a:pPr>
            <a:endParaRPr lang="en-US" sz="2800" dirty="0" smtClean="0">
              <a:latin typeface="Arial" pitchFamily="34" charset="0"/>
              <a:cs typeface="Arial" pitchFamily="34" charset="0"/>
            </a:endParaRPr>
          </a:p>
          <a:p>
            <a:pPr marL="0" indent="0">
              <a:buNone/>
            </a:pPr>
            <a:endParaRPr lang="en-US" sz="2800" dirty="0">
              <a:latin typeface="Arial" pitchFamily="34" charset="0"/>
              <a:cs typeface="Arial" pitchFamily="34" charset="0"/>
            </a:endParaRPr>
          </a:p>
          <a:p>
            <a:pPr marL="0" indent="0">
              <a:buNone/>
            </a:pPr>
            <a:endParaRPr lang="en-US" sz="2800" dirty="0" smtClean="0">
              <a:latin typeface="Arial" pitchFamily="34" charset="0"/>
              <a:cs typeface="Arial" pitchFamily="34" charset="0"/>
            </a:endParaRPr>
          </a:p>
          <a:p>
            <a:pPr marL="0" indent="0">
              <a:buNone/>
            </a:pPr>
            <a:endParaRPr lang="en-US" sz="2800" dirty="0">
              <a:latin typeface="Arial" pitchFamily="34" charset="0"/>
              <a:cs typeface="Arial" pitchFamily="34" charset="0"/>
            </a:endParaRPr>
          </a:p>
          <a:p>
            <a:pPr marL="0" indent="0">
              <a:buNone/>
            </a:pPr>
            <a:endParaRPr lang="en-US" sz="2800" dirty="0" smtClean="0">
              <a:latin typeface="Arial" pitchFamily="34" charset="0"/>
              <a:cs typeface="Arial" pitchFamily="34" charset="0"/>
            </a:endParaRPr>
          </a:p>
          <a:p>
            <a:pPr marL="0" indent="0">
              <a:buNone/>
            </a:pPr>
            <a:endParaRPr lang="en-US" sz="2800" dirty="0" smtClean="0">
              <a:latin typeface="Arial" pitchFamily="34" charset="0"/>
              <a:cs typeface="Arial" pitchFamily="34" charset="0"/>
            </a:endParaRPr>
          </a:p>
          <a:p>
            <a:pPr marL="0" indent="0">
              <a:buNone/>
            </a:pPr>
            <a:endParaRPr lang="en-US" sz="2800" dirty="0" smtClean="0">
              <a:latin typeface="Arial" pitchFamily="34" charset="0"/>
              <a:cs typeface="Arial" pitchFamily="34" charset="0"/>
            </a:endParaRPr>
          </a:p>
          <a:p>
            <a:pPr marL="0" indent="0">
              <a:buNone/>
            </a:pPr>
            <a:endParaRPr lang="en-US" sz="2800" dirty="0">
              <a:latin typeface="Arial" pitchFamily="34" charset="0"/>
              <a:cs typeface="Arial" pitchFamily="34" charset="0"/>
            </a:endParaRPr>
          </a:p>
          <a:p>
            <a:pPr marL="0" indent="0">
              <a:buNone/>
            </a:pPr>
            <a:endParaRPr lang="en-US" sz="2800" dirty="0" smtClean="0">
              <a:latin typeface="Arial" pitchFamily="34" charset="0"/>
              <a:cs typeface="Arial" pitchFamily="34" charset="0"/>
            </a:endParaRPr>
          </a:p>
          <a:p>
            <a:pPr marL="0" indent="0">
              <a:buNone/>
            </a:pPr>
            <a:endParaRPr lang="en-US" sz="2800" dirty="0" smtClean="0">
              <a:latin typeface="Arial" pitchFamily="34" charset="0"/>
              <a:cs typeface="Arial" pitchFamily="34" charset="0"/>
            </a:endParaRPr>
          </a:p>
          <a:p>
            <a:pPr marL="0" indent="0">
              <a:buNone/>
            </a:pPr>
            <a:endParaRPr lang="en-IN" sz="2800" dirty="0">
              <a:latin typeface="Arial" pitchFamily="34" charset="0"/>
              <a:cs typeface="Arial" pitchFamily="34" charset="0"/>
            </a:endParaRP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2041" y="548680"/>
            <a:ext cx="9112976" cy="60486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801980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-18256"/>
            <a:ext cx="8229600" cy="1143000"/>
          </a:xfrm>
        </p:spPr>
        <p:txBody>
          <a:bodyPr/>
          <a:lstStyle/>
          <a:p>
            <a:r>
              <a:rPr lang="en-IN" dirty="0" smtClean="0">
                <a:solidFill>
                  <a:srgbClr val="0000CC"/>
                </a:solidFill>
              </a:rPr>
              <a:t>AI vs. Human Intelligence</a:t>
            </a:r>
            <a:endParaRPr lang="en-IN" dirty="0">
              <a:solidFill>
                <a:srgbClr val="0000CC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40768"/>
            <a:ext cx="8229600" cy="5256584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sz="2800" dirty="0">
              <a:latin typeface="Arial" pitchFamily="34" charset="0"/>
              <a:cs typeface="Arial" pitchFamily="34" charset="0"/>
            </a:endParaRPr>
          </a:p>
          <a:p>
            <a:pPr marL="0" indent="0">
              <a:buNone/>
            </a:pPr>
            <a:endParaRPr lang="en-US" sz="2800" dirty="0" smtClean="0">
              <a:latin typeface="Arial" pitchFamily="34" charset="0"/>
              <a:cs typeface="Arial" pitchFamily="34" charset="0"/>
            </a:endParaRPr>
          </a:p>
          <a:p>
            <a:pPr marL="0" indent="0">
              <a:buNone/>
            </a:pPr>
            <a:endParaRPr lang="en-US" sz="2800" dirty="0">
              <a:latin typeface="Arial" pitchFamily="34" charset="0"/>
              <a:cs typeface="Arial" pitchFamily="34" charset="0"/>
            </a:endParaRPr>
          </a:p>
          <a:p>
            <a:pPr marL="0" indent="0">
              <a:buNone/>
            </a:pPr>
            <a:endParaRPr lang="en-US" sz="2800" dirty="0" smtClean="0">
              <a:latin typeface="Arial" pitchFamily="34" charset="0"/>
              <a:cs typeface="Arial" pitchFamily="34" charset="0"/>
            </a:endParaRPr>
          </a:p>
          <a:p>
            <a:pPr marL="0" indent="0">
              <a:buNone/>
            </a:pPr>
            <a:endParaRPr lang="en-US" sz="2800" dirty="0">
              <a:latin typeface="Arial" pitchFamily="34" charset="0"/>
              <a:cs typeface="Arial" pitchFamily="34" charset="0"/>
            </a:endParaRPr>
          </a:p>
          <a:p>
            <a:pPr marL="0" indent="0">
              <a:buNone/>
            </a:pPr>
            <a:endParaRPr lang="en-US" sz="2800" dirty="0" smtClean="0">
              <a:latin typeface="Arial" pitchFamily="34" charset="0"/>
              <a:cs typeface="Arial" pitchFamily="34" charset="0"/>
            </a:endParaRPr>
          </a:p>
          <a:p>
            <a:pPr marL="0" indent="0">
              <a:buNone/>
            </a:pPr>
            <a:endParaRPr lang="en-US" sz="2800" dirty="0" smtClean="0">
              <a:latin typeface="Arial" pitchFamily="34" charset="0"/>
              <a:cs typeface="Arial" pitchFamily="34" charset="0"/>
            </a:endParaRPr>
          </a:p>
          <a:p>
            <a:pPr marL="0" indent="0">
              <a:buNone/>
            </a:pPr>
            <a:endParaRPr lang="en-US" sz="2800" dirty="0" smtClean="0">
              <a:latin typeface="Arial" pitchFamily="34" charset="0"/>
              <a:cs typeface="Arial" pitchFamily="34" charset="0"/>
            </a:endParaRPr>
          </a:p>
          <a:p>
            <a:pPr marL="0" indent="0">
              <a:buNone/>
            </a:pPr>
            <a:endParaRPr lang="en-US" sz="2800" dirty="0">
              <a:latin typeface="Arial" pitchFamily="34" charset="0"/>
              <a:cs typeface="Arial" pitchFamily="34" charset="0"/>
            </a:endParaRPr>
          </a:p>
          <a:p>
            <a:pPr marL="0" indent="0">
              <a:buNone/>
            </a:pPr>
            <a:endParaRPr lang="en-US" sz="2800" dirty="0" smtClean="0">
              <a:latin typeface="Arial" pitchFamily="34" charset="0"/>
              <a:cs typeface="Arial" pitchFamily="34" charset="0"/>
            </a:endParaRPr>
          </a:p>
          <a:p>
            <a:pPr marL="0" indent="0">
              <a:buNone/>
            </a:pPr>
            <a:endParaRPr lang="en-US" sz="2800" dirty="0" smtClean="0">
              <a:latin typeface="Arial" pitchFamily="34" charset="0"/>
              <a:cs typeface="Arial" pitchFamily="34" charset="0"/>
            </a:endParaRPr>
          </a:p>
          <a:p>
            <a:pPr marL="0" indent="0">
              <a:buNone/>
            </a:pPr>
            <a:endParaRPr lang="en-IN" sz="2800" dirty="0">
              <a:latin typeface="Arial" pitchFamily="34" charset="0"/>
              <a:cs typeface="Arial" pitchFamily="34" charset="0"/>
            </a:endParaRPr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496" y="1347986"/>
            <a:ext cx="9050958" cy="41692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6920366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>
                <a:solidFill>
                  <a:srgbClr val="0000CC"/>
                </a:solidFill>
              </a:rPr>
              <a:t>Knowledge vs. Intelligence</a:t>
            </a:r>
            <a:endParaRPr lang="en-IN" dirty="0">
              <a:solidFill>
                <a:srgbClr val="0000CC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Knowledge</a:t>
            </a:r>
            <a:r>
              <a:rPr lang="en-US" sz="2800" dirty="0" smtClean="0">
                <a:latin typeface="Arial" pitchFamily="34" charset="0"/>
                <a:cs typeface="Arial" pitchFamily="34" charset="0"/>
              </a:rPr>
              <a:t> is information that a person or system has learned or acquired.</a:t>
            </a:r>
          </a:p>
          <a:p>
            <a:r>
              <a:rPr lang="en-US" sz="2800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Intelligence</a:t>
            </a:r>
            <a:r>
              <a:rPr lang="en-US" sz="2800" dirty="0" smtClean="0">
                <a:latin typeface="Arial" pitchFamily="34" charset="0"/>
                <a:cs typeface="Arial" pitchFamily="34" charset="0"/>
              </a:rPr>
              <a:t> is the ability to use knowledge to understand, reason, solve problems, and make decisions.</a:t>
            </a:r>
            <a:endParaRPr lang="en-IN" sz="2800" dirty="0"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113978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>
                <a:solidFill>
                  <a:srgbClr val="0000CC"/>
                </a:solidFill>
              </a:rPr>
              <a:t>History of Artificial Intelligence</a:t>
            </a:r>
            <a:endParaRPr lang="en-IN" dirty="0">
              <a:solidFill>
                <a:srgbClr val="0000CC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2400" b="1" dirty="0" smtClean="0">
                <a:latin typeface="Arial" pitchFamily="34" charset="0"/>
                <a:cs typeface="Arial" pitchFamily="34" charset="0"/>
              </a:rPr>
              <a:t>1940s–1950s — Early Computing &amp; Neural-Network Ideas</a:t>
            </a:r>
          </a:p>
          <a:p>
            <a:pPr>
              <a:lnSpc>
                <a:spcPct val="150000"/>
              </a:lnSpc>
            </a:pPr>
            <a:r>
              <a:rPr lang="en-US" sz="2400" dirty="0" smtClean="0">
                <a:latin typeface="Arial" pitchFamily="34" charset="0"/>
                <a:cs typeface="Arial" pitchFamily="34" charset="0"/>
              </a:rPr>
              <a:t>Development of electronic computers.</a:t>
            </a:r>
          </a:p>
          <a:p>
            <a:pPr>
              <a:lnSpc>
                <a:spcPct val="150000"/>
              </a:lnSpc>
            </a:pPr>
            <a:r>
              <a:rPr lang="en-US" sz="2400" dirty="0" smtClean="0">
                <a:latin typeface="Arial" pitchFamily="34" charset="0"/>
                <a:cs typeface="Arial" pitchFamily="34" charset="0"/>
              </a:rPr>
              <a:t>Researchers began thinking about whether machines could </a:t>
            </a:r>
            <a:r>
              <a:rPr lang="en-US" sz="2400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imitate human thinking.</a:t>
            </a:r>
          </a:p>
          <a:p>
            <a:pPr>
              <a:lnSpc>
                <a:spcPct val="150000"/>
              </a:lnSpc>
            </a:pPr>
            <a:r>
              <a:rPr lang="en-US" sz="2400" dirty="0" smtClean="0">
                <a:latin typeface="Arial" pitchFamily="34" charset="0"/>
                <a:cs typeface="Arial" pitchFamily="34" charset="0"/>
              </a:rPr>
              <a:t>Can a machine also </a:t>
            </a:r>
            <a:r>
              <a:rPr lang="en-US" sz="2400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learn or</a:t>
            </a:r>
            <a:r>
              <a:rPr lang="en-US" sz="2400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en-US" sz="2400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think</a:t>
            </a:r>
            <a:r>
              <a:rPr lang="en-US" sz="2400" dirty="0" smtClean="0">
                <a:latin typeface="Arial" pitchFamily="34" charset="0"/>
                <a:cs typeface="Arial" pitchFamily="34" charset="0"/>
              </a:rPr>
              <a:t>?</a:t>
            </a:r>
            <a:endParaRPr lang="en-IN" sz="2400" dirty="0"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8618205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>
                <a:solidFill>
                  <a:srgbClr val="0000CC"/>
                </a:solidFill>
              </a:rPr>
              <a:t>History of Artificial Intelligence</a:t>
            </a:r>
            <a:endParaRPr lang="en-IN" dirty="0">
              <a:solidFill>
                <a:srgbClr val="0000CC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 smtClean="0">
                <a:latin typeface="Arial" pitchFamily="34" charset="0"/>
                <a:cs typeface="Arial" pitchFamily="34" charset="0"/>
              </a:rPr>
              <a:t>1950s — Birth of Artificial Intelligence</a:t>
            </a:r>
          </a:p>
          <a:p>
            <a:r>
              <a:rPr lang="en-US" sz="2400" b="1" dirty="0" smtClean="0">
                <a:latin typeface="Arial" pitchFamily="34" charset="0"/>
                <a:cs typeface="Arial" pitchFamily="34" charset="0"/>
              </a:rPr>
              <a:t>1956:</a:t>
            </a:r>
            <a:r>
              <a:rPr lang="en-US" sz="2400" dirty="0" smtClean="0">
                <a:latin typeface="Arial" pitchFamily="34" charset="0"/>
                <a:cs typeface="Arial" pitchFamily="34" charset="0"/>
              </a:rPr>
              <a:t> The term </a:t>
            </a:r>
            <a:r>
              <a:rPr lang="en-US" sz="2400" b="1" dirty="0" smtClean="0">
                <a:latin typeface="Arial" pitchFamily="34" charset="0"/>
                <a:cs typeface="Arial" pitchFamily="34" charset="0"/>
              </a:rPr>
              <a:t>Artificial Intelligence (AI)</a:t>
            </a:r>
            <a:r>
              <a:rPr lang="en-US" sz="2400" dirty="0" smtClean="0">
                <a:latin typeface="Arial" pitchFamily="34" charset="0"/>
                <a:cs typeface="Arial" pitchFamily="34" charset="0"/>
              </a:rPr>
              <a:t> became established at the </a:t>
            </a:r>
            <a:r>
              <a:rPr lang="en-US" sz="2400" b="1" dirty="0" smtClean="0">
                <a:latin typeface="Arial" pitchFamily="34" charset="0"/>
                <a:cs typeface="Arial" pitchFamily="34" charset="0"/>
              </a:rPr>
              <a:t>Dartmouth workshop</a:t>
            </a:r>
            <a:r>
              <a:rPr lang="en-US" sz="2400" dirty="0" smtClean="0">
                <a:latin typeface="Arial" pitchFamily="34" charset="0"/>
                <a:cs typeface="Arial" pitchFamily="34" charset="0"/>
              </a:rPr>
              <a:t>. </a:t>
            </a:r>
          </a:p>
          <a:p>
            <a:r>
              <a:rPr lang="en-US" sz="2400" dirty="0" smtClean="0">
                <a:latin typeface="Arial" pitchFamily="34" charset="0"/>
                <a:cs typeface="Arial" pitchFamily="34" charset="0"/>
              </a:rPr>
              <a:t>Researchers began treating AI as a formal field of study</a:t>
            </a:r>
          </a:p>
          <a:p>
            <a:pPr marL="0" indent="0">
              <a:buNone/>
            </a:pPr>
            <a:r>
              <a:rPr lang="en-US" sz="2400" b="1" dirty="0" smtClean="0">
                <a:latin typeface="Arial" pitchFamily="34" charset="0"/>
                <a:cs typeface="Arial" pitchFamily="34" charset="0"/>
              </a:rPr>
              <a:t>1960s–1970s — Early AI Programs</a:t>
            </a:r>
          </a:p>
          <a:p>
            <a:r>
              <a:rPr lang="en-US" sz="2400" dirty="0" smtClean="0">
                <a:latin typeface="Arial" pitchFamily="34" charset="0"/>
                <a:cs typeface="Arial" pitchFamily="34" charset="0"/>
              </a:rPr>
              <a:t>Development of programs that could: </a:t>
            </a:r>
          </a:p>
          <a:p>
            <a:pPr lvl="1"/>
            <a:r>
              <a:rPr lang="en-US" sz="2400" dirty="0" smtClean="0">
                <a:latin typeface="Arial" pitchFamily="34" charset="0"/>
                <a:cs typeface="Arial" pitchFamily="34" charset="0"/>
              </a:rPr>
              <a:t>Solve problems </a:t>
            </a:r>
          </a:p>
          <a:p>
            <a:pPr lvl="1"/>
            <a:r>
              <a:rPr lang="en-US" sz="2400" dirty="0" smtClean="0">
                <a:latin typeface="Arial" pitchFamily="34" charset="0"/>
                <a:cs typeface="Arial" pitchFamily="34" charset="0"/>
              </a:rPr>
              <a:t>Play games </a:t>
            </a:r>
          </a:p>
          <a:p>
            <a:pPr lvl="1"/>
            <a:r>
              <a:rPr lang="en-US" sz="2400" dirty="0" smtClean="0">
                <a:latin typeface="Arial" pitchFamily="34" charset="0"/>
                <a:cs typeface="Arial" pitchFamily="34" charset="0"/>
              </a:rPr>
              <a:t>Understand simple language </a:t>
            </a:r>
          </a:p>
          <a:p>
            <a:pPr lvl="1"/>
            <a:r>
              <a:rPr lang="en-US" sz="2400" dirty="0" smtClean="0">
                <a:latin typeface="Arial" pitchFamily="34" charset="0"/>
                <a:cs typeface="Arial" pitchFamily="34" charset="0"/>
              </a:rPr>
              <a:t>Perform logical reasoning</a:t>
            </a:r>
          </a:p>
          <a:p>
            <a:pPr>
              <a:lnSpc>
                <a:spcPct val="150000"/>
              </a:lnSpc>
            </a:pPr>
            <a:endParaRPr lang="en-IN" sz="2400" dirty="0"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8475390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>
                <a:solidFill>
                  <a:srgbClr val="0000CC"/>
                </a:solidFill>
              </a:rPr>
              <a:t>History of Artificial Intelligence</a:t>
            </a:r>
            <a:endParaRPr lang="en-IN" dirty="0">
              <a:solidFill>
                <a:srgbClr val="0000CC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2600" b="1" dirty="0" smtClean="0">
                <a:latin typeface="Arial" pitchFamily="34" charset="0"/>
                <a:cs typeface="Arial" pitchFamily="34" charset="0"/>
              </a:rPr>
              <a:t>1980s — Expert Systems</a:t>
            </a:r>
          </a:p>
          <a:p>
            <a:r>
              <a:rPr lang="en-US" sz="2600" b="1" dirty="0" smtClean="0">
                <a:latin typeface="Arial" pitchFamily="34" charset="0"/>
                <a:cs typeface="Arial" pitchFamily="34" charset="0"/>
              </a:rPr>
              <a:t>Expert systems</a:t>
            </a:r>
            <a:r>
              <a:rPr lang="en-US" sz="2600" dirty="0" smtClean="0">
                <a:latin typeface="Arial" pitchFamily="34" charset="0"/>
                <a:cs typeface="Arial" pitchFamily="34" charset="0"/>
              </a:rPr>
              <a:t> became an important area of AI. </a:t>
            </a:r>
          </a:p>
          <a:p>
            <a:r>
              <a:rPr lang="en-US" sz="2600" dirty="0" smtClean="0">
                <a:latin typeface="Arial" pitchFamily="34" charset="0"/>
                <a:cs typeface="Arial" pitchFamily="34" charset="0"/>
              </a:rPr>
              <a:t>These systems used: </a:t>
            </a:r>
          </a:p>
          <a:p>
            <a:pPr lvl="1"/>
            <a:r>
              <a:rPr lang="en-US" sz="2600" b="1" dirty="0" smtClean="0">
                <a:latin typeface="Arial" pitchFamily="34" charset="0"/>
                <a:cs typeface="Arial" pitchFamily="34" charset="0"/>
              </a:rPr>
              <a:t>Knowledge base</a:t>
            </a:r>
            <a:r>
              <a:rPr lang="en-US" sz="2600" dirty="0" smtClean="0">
                <a:latin typeface="Arial" pitchFamily="34" charset="0"/>
                <a:cs typeface="Arial" pitchFamily="34" charset="0"/>
              </a:rPr>
              <a:t> → stored expert knowledge </a:t>
            </a:r>
          </a:p>
          <a:p>
            <a:pPr lvl="1"/>
            <a:r>
              <a:rPr lang="en-US" sz="2600" b="1" dirty="0" smtClean="0">
                <a:latin typeface="Arial" pitchFamily="34" charset="0"/>
                <a:cs typeface="Arial" pitchFamily="34" charset="0"/>
              </a:rPr>
              <a:t>Rules</a:t>
            </a:r>
            <a:r>
              <a:rPr lang="en-US" sz="2600" dirty="0" smtClean="0">
                <a:latin typeface="Arial" pitchFamily="34" charset="0"/>
                <a:cs typeface="Arial" pitchFamily="34" charset="0"/>
              </a:rPr>
              <a:t> → </a:t>
            </a:r>
            <a:r>
              <a:rPr lang="en-US" sz="2600" i="1" dirty="0" smtClean="0">
                <a:latin typeface="Arial" pitchFamily="34" charset="0"/>
                <a:cs typeface="Arial" pitchFamily="34" charset="0"/>
              </a:rPr>
              <a:t>IF–THEN</a:t>
            </a:r>
            <a:r>
              <a:rPr lang="en-US" sz="2600" dirty="0" smtClean="0">
                <a:latin typeface="Arial" pitchFamily="34" charset="0"/>
                <a:cs typeface="Arial" pitchFamily="34" charset="0"/>
              </a:rPr>
              <a:t> rules </a:t>
            </a:r>
          </a:p>
          <a:p>
            <a:pPr lvl="1"/>
            <a:r>
              <a:rPr lang="en-US" sz="2600" b="1" dirty="0" smtClean="0">
                <a:latin typeface="Arial" pitchFamily="34" charset="0"/>
                <a:cs typeface="Arial" pitchFamily="34" charset="0"/>
              </a:rPr>
              <a:t>Inference engine</a:t>
            </a:r>
            <a:r>
              <a:rPr lang="en-US" sz="2600" dirty="0" smtClean="0">
                <a:latin typeface="Arial" pitchFamily="34" charset="0"/>
                <a:cs typeface="Arial" pitchFamily="34" charset="0"/>
              </a:rPr>
              <a:t> → applied the rules to reach conclusions </a:t>
            </a:r>
          </a:p>
          <a:p>
            <a:r>
              <a:rPr lang="en-US" sz="2600" b="1" dirty="0" smtClean="0">
                <a:latin typeface="Arial" pitchFamily="34" charset="0"/>
                <a:cs typeface="Arial" pitchFamily="34" charset="0"/>
              </a:rPr>
              <a:t>Example:</a:t>
            </a:r>
            <a:endParaRPr lang="en-US" sz="2600" dirty="0" smtClean="0">
              <a:latin typeface="Arial" pitchFamily="34" charset="0"/>
              <a:cs typeface="Arial" pitchFamily="34" charset="0"/>
            </a:endParaRPr>
          </a:p>
          <a:p>
            <a:r>
              <a:rPr lang="en-US" sz="2600" dirty="0" smtClean="0">
                <a:latin typeface="Arial" pitchFamily="34" charset="0"/>
                <a:cs typeface="Arial" pitchFamily="34" charset="0"/>
              </a:rPr>
              <a:t>IF patient has fever AND cough</a:t>
            </a:r>
            <a:br>
              <a:rPr lang="en-US" sz="2600" dirty="0" smtClean="0">
                <a:latin typeface="Arial" pitchFamily="34" charset="0"/>
                <a:cs typeface="Arial" pitchFamily="34" charset="0"/>
              </a:rPr>
            </a:br>
            <a:r>
              <a:rPr lang="en-US" sz="2600" dirty="0" smtClean="0">
                <a:latin typeface="Arial" pitchFamily="34" charset="0"/>
                <a:cs typeface="Arial" pitchFamily="34" charset="0"/>
              </a:rPr>
              <a:t>THEN possible respiratory infection.</a:t>
            </a:r>
          </a:p>
          <a:p>
            <a:pPr marL="0" indent="0">
              <a:lnSpc>
                <a:spcPct val="150000"/>
              </a:lnSpc>
              <a:buNone/>
            </a:pPr>
            <a:endParaRPr lang="en-IN" sz="2400" dirty="0"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5157844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>
                <a:solidFill>
                  <a:srgbClr val="0000CC"/>
                </a:solidFill>
              </a:rPr>
              <a:t>History of Artificial Intelligence</a:t>
            </a:r>
            <a:endParaRPr lang="en-IN" dirty="0">
              <a:solidFill>
                <a:srgbClr val="0000CC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2400" b="1" dirty="0" smtClean="0">
                <a:latin typeface="Arial" pitchFamily="34" charset="0"/>
                <a:cs typeface="Arial" pitchFamily="34" charset="0"/>
              </a:rPr>
              <a:t>1990s–2000s — Machine Learning Becomes Important</a:t>
            </a:r>
          </a:p>
          <a:p>
            <a:pPr>
              <a:lnSpc>
                <a:spcPct val="150000"/>
              </a:lnSpc>
            </a:pPr>
            <a:r>
              <a:rPr lang="en-IN" sz="2400" b="1" dirty="0" smtClean="0">
                <a:latin typeface="Arial" pitchFamily="34" charset="0"/>
                <a:cs typeface="Arial" pitchFamily="34" charset="0"/>
              </a:rPr>
              <a:t>2010s — Deep Learning Revolution</a:t>
            </a:r>
          </a:p>
          <a:p>
            <a:pPr>
              <a:lnSpc>
                <a:spcPct val="150000"/>
              </a:lnSpc>
            </a:pPr>
            <a:r>
              <a:rPr lang="en-US" sz="2400" b="1" dirty="0" smtClean="0">
                <a:latin typeface="Arial" pitchFamily="34" charset="0"/>
                <a:cs typeface="Arial" pitchFamily="34" charset="0"/>
              </a:rPr>
              <a:t>Deep learning</a:t>
            </a:r>
            <a:r>
              <a:rPr lang="en-US" sz="2400" dirty="0" smtClean="0">
                <a:latin typeface="Arial" pitchFamily="34" charset="0"/>
                <a:cs typeface="Arial" pitchFamily="34" charset="0"/>
              </a:rPr>
              <a:t>, using multi-layer neural networks, became highly successful. </a:t>
            </a:r>
          </a:p>
          <a:p>
            <a:pPr>
              <a:lnSpc>
                <a:spcPct val="150000"/>
              </a:lnSpc>
            </a:pPr>
            <a:r>
              <a:rPr lang="en-US" sz="2400" dirty="0" smtClean="0">
                <a:latin typeface="Arial" pitchFamily="34" charset="0"/>
                <a:cs typeface="Arial" pitchFamily="34" charset="0"/>
              </a:rPr>
              <a:t>Large datasets + powerful GPUs + improved algorithms accelerated AI.</a:t>
            </a:r>
            <a:endParaRPr lang="en-IN" sz="2400" b="1" dirty="0"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9323496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>
                <a:solidFill>
                  <a:srgbClr val="0000CC"/>
                </a:solidFill>
              </a:rPr>
              <a:t>History of Artificial Intelligence</a:t>
            </a:r>
            <a:endParaRPr lang="en-IN" dirty="0">
              <a:solidFill>
                <a:srgbClr val="0000CC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sz="2600" b="1" dirty="0" smtClean="0">
                <a:latin typeface="Arial" pitchFamily="34" charset="0"/>
                <a:cs typeface="Arial" pitchFamily="34" charset="0"/>
              </a:rPr>
              <a:t>2020s — Generative AI</a:t>
            </a:r>
          </a:p>
          <a:p>
            <a:r>
              <a:rPr lang="en-US" sz="2600" dirty="0" smtClean="0">
                <a:latin typeface="Arial" pitchFamily="34" charset="0"/>
                <a:cs typeface="Arial" pitchFamily="34" charset="0"/>
              </a:rPr>
              <a:t>AI systems became capable of </a:t>
            </a:r>
            <a:r>
              <a:rPr lang="en-US" sz="2600" b="1" dirty="0" smtClean="0">
                <a:latin typeface="Arial" pitchFamily="34" charset="0"/>
                <a:cs typeface="Arial" pitchFamily="34" charset="0"/>
              </a:rPr>
              <a:t>generating new content</a:t>
            </a:r>
            <a:r>
              <a:rPr lang="en-US" sz="2600" dirty="0" smtClean="0">
                <a:latin typeface="Arial" pitchFamily="34" charset="0"/>
                <a:cs typeface="Arial" pitchFamily="34" charset="0"/>
              </a:rPr>
              <a:t>, rather than simply classifying or predicting existing information. </a:t>
            </a:r>
          </a:p>
          <a:p>
            <a:r>
              <a:rPr lang="en-US" sz="2600" dirty="0" smtClean="0">
                <a:latin typeface="Arial" pitchFamily="34" charset="0"/>
                <a:cs typeface="Arial" pitchFamily="34" charset="0"/>
              </a:rPr>
              <a:t>Major developments include: </a:t>
            </a:r>
          </a:p>
          <a:p>
            <a:pPr lvl="1"/>
            <a:r>
              <a:rPr lang="en-US" sz="2600" b="1" dirty="0" smtClean="0">
                <a:latin typeface="Arial" pitchFamily="34" charset="0"/>
                <a:cs typeface="Arial" pitchFamily="34" charset="0"/>
              </a:rPr>
              <a:t>Large Language Models (LLMs)</a:t>
            </a:r>
            <a:r>
              <a:rPr lang="en-US" sz="2600" dirty="0" smtClean="0">
                <a:latin typeface="Arial" pitchFamily="34" charset="0"/>
                <a:cs typeface="Arial" pitchFamily="34" charset="0"/>
              </a:rPr>
              <a:t> </a:t>
            </a:r>
          </a:p>
          <a:p>
            <a:pPr lvl="1"/>
            <a:r>
              <a:rPr lang="en-US" sz="2600" dirty="0" smtClean="0">
                <a:latin typeface="Arial" pitchFamily="34" charset="0"/>
                <a:cs typeface="Arial" pitchFamily="34" charset="0"/>
              </a:rPr>
              <a:t>Text generation </a:t>
            </a:r>
          </a:p>
          <a:p>
            <a:pPr lvl="1"/>
            <a:r>
              <a:rPr lang="en-US" sz="2600" dirty="0" smtClean="0">
                <a:latin typeface="Arial" pitchFamily="34" charset="0"/>
                <a:cs typeface="Arial" pitchFamily="34" charset="0"/>
              </a:rPr>
              <a:t>Image generation </a:t>
            </a:r>
          </a:p>
          <a:p>
            <a:pPr lvl="1"/>
            <a:r>
              <a:rPr lang="en-US" sz="2600" dirty="0" smtClean="0">
                <a:latin typeface="Arial" pitchFamily="34" charset="0"/>
                <a:cs typeface="Arial" pitchFamily="34" charset="0"/>
              </a:rPr>
              <a:t>Code generation </a:t>
            </a:r>
          </a:p>
          <a:p>
            <a:pPr lvl="1"/>
            <a:r>
              <a:rPr lang="en-US" sz="2600" dirty="0" smtClean="0">
                <a:latin typeface="Arial" pitchFamily="34" charset="0"/>
                <a:cs typeface="Arial" pitchFamily="34" charset="0"/>
              </a:rPr>
              <a:t>Audio and video </a:t>
            </a:r>
            <a:r>
              <a:rPr lang="en-US" sz="2600" dirty="0" err="1" smtClean="0">
                <a:latin typeface="Arial" pitchFamily="34" charset="0"/>
                <a:cs typeface="Arial" pitchFamily="34" charset="0"/>
              </a:rPr>
              <a:t>generatio</a:t>
            </a:r>
            <a:endParaRPr lang="en-US" sz="2600" dirty="0" smtClean="0">
              <a:latin typeface="Arial" pitchFamily="34" charset="0"/>
              <a:cs typeface="Arial" pitchFamily="34" charset="0"/>
            </a:endParaRPr>
          </a:p>
          <a:p>
            <a:pPr>
              <a:lnSpc>
                <a:spcPct val="150000"/>
              </a:lnSpc>
            </a:pPr>
            <a:endParaRPr lang="en-IN" sz="2400" b="1" dirty="0"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594395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>
                <a:solidFill>
                  <a:srgbClr val="0000CC"/>
                </a:solidFill>
              </a:rPr>
              <a:t>Data Everywhere</a:t>
            </a:r>
            <a:endParaRPr lang="en-IN" dirty="0">
              <a:solidFill>
                <a:srgbClr val="0000CC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 smtClean="0">
                <a:latin typeface="Arial" pitchFamily="34" charset="0"/>
                <a:cs typeface="Arial" pitchFamily="34" charset="0"/>
              </a:rPr>
              <a:t>AI depends heavily on </a:t>
            </a:r>
            <a:r>
              <a:rPr lang="en-US" sz="2800" b="1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data</a:t>
            </a:r>
            <a:r>
              <a:rPr lang="en-US" sz="2800" dirty="0" smtClean="0">
                <a:latin typeface="Arial" pitchFamily="34" charset="0"/>
                <a:cs typeface="Arial" pitchFamily="34" charset="0"/>
              </a:rPr>
              <a:t>.</a:t>
            </a:r>
          </a:p>
          <a:p>
            <a:r>
              <a:rPr lang="en-US" sz="2800" b="1" dirty="0" smtClean="0">
                <a:latin typeface="Arial" pitchFamily="34" charset="0"/>
                <a:cs typeface="Arial" pitchFamily="34" charset="0"/>
              </a:rPr>
              <a:t>Examples of data</a:t>
            </a:r>
          </a:p>
          <a:p>
            <a:r>
              <a:rPr lang="en-US" sz="2800" dirty="0" smtClean="0">
                <a:latin typeface="Arial" pitchFamily="34" charset="0"/>
                <a:cs typeface="Arial" pitchFamily="34" charset="0"/>
              </a:rPr>
              <a:t>Text, Images, Audio, Video, Numbers, Sensor, readings, Location information, Web activity</a:t>
            </a:r>
          </a:p>
          <a:p>
            <a:r>
              <a:rPr lang="en-US" sz="2800" dirty="0" smtClean="0">
                <a:latin typeface="Arial" pitchFamily="34" charset="0"/>
                <a:cs typeface="Arial" pitchFamily="34" charset="0"/>
              </a:rPr>
              <a:t>Why is data important to AI?</a:t>
            </a:r>
          </a:p>
          <a:p>
            <a:r>
              <a:rPr lang="en-US" sz="2800" dirty="0" smtClean="0">
                <a:latin typeface="Arial" pitchFamily="34" charset="0"/>
                <a:cs typeface="Arial" pitchFamily="34" charset="0"/>
              </a:rPr>
              <a:t>Data </a:t>
            </a:r>
            <a:r>
              <a:rPr lang="en-US" sz="2800" dirty="0" smtClean="0">
                <a:latin typeface="Arial" pitchFamily="34" charset="0"/>
                <a:cs typeface="Arial" pitchFamily="34" charset="0"/>
                <a:sym typeface="Wingdings" pitchFamily="2" charset="2"/>
              </a:rPr>
              <a:t></a:t>
            </a:r>
            <a:r>
              <a:rPr lang="en-US" sz="2800" dirty="0" smtClean="0">
                <a:latin typeface="Arial" pitchFamily="34" charset="0"/>
                <a:cs typeface="Arial" pitchFamily="34" charset="0"/>
              </a:rPr>
              <a:t> Find patterns </a:t>
            </a:r>
            <a:r>
              <a:rPr lang="en-US" sz="2800" dirty="0" smtClean="0">
                <a:latin typeface="Arial" pitchFamily="34" charset="0"/>
                <a:cs typeface="Arial" pitchFamily="34" charset="0"/>
                <a:sym typeface="Wingdings" pitchFamily="2" charset="2"/>
              </a:rPr>
              <a:t></a:t>
            </a:r>
            <a:r>
              <a:rPr lang="en-US" sz="2800" dirty="0" smtClean="0">
                <a:latin typeface="Arial" pitchFamily="34" charset="0"/>
                <a:cs typeface="Arial" pitchFamily="34" charset="0"/>
              </a:rPr>
              <a:t> Learn </a:t>
            </a:r>
            <a:r>
              <a:rPr lang="en-US" sz="2800" dirty="0" smtClean="0">
                <a:latin typeface="Arial" pitchFamily="34" charset="0"/>
                <a:cs typeface="Arial" pitchFamily="34" charset="0"/>
                <a:sym typeface="Wingdings" pitchFamily="2" charset="2"/>
              </a:rPr>
              <a:t></a:t>
            </a:r>
            <a:r>
              <a:rPr lang="en-US" sz="2800" dirty="0" smtClean="0">
                <a:latin typeface="Arial" pitchFamily="34" charset="0"/>
                <a:cs typeface="Arial" pitchFamily="34" charset="0"/>
              </a:rPr>
              <a:t> Make</a:t>
            </a:r>
            <a:r>
              <a:rPr lang="en-US" sz="2800" dirty="0" smtClean="0">
                <a:latin typeface="Arial" pitchFamily="34" charset="0"/>
                <a:cs typeface="Arial" pitchFamily="34" charset="0"/>
                <a:sym typeface="Wingdings" pitchFamily="2" charset="2"/>
              </a:rPr>
              <a:t> </a:t>
            </a:r>
            <a:r>
              <a:rPr lang="en-US" sz="2800" dirty="0" smtClean="0">
                <a:latin typeface="Arial" pitchFamily="34" charset="0"/>
                <a:cs typeface="Arial" pitchFamily="34" charset="0"/>
              </a:rPr>
              <a:t>predictions/decisions</a:t>
            </a:r>
            <a:endParaRPr lang="en-IN" sz="2800" dirty="0"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2152523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>
                <a:solidFill>
                  <a:srgbClr val="0000CC"/>
                </a:solidFill>
              </a:rPr>
              <a:t>Machine Learning</a:t>
            </a:r>
            <a:endParaRPr lang="en-IN" dirty="0">
              <a:solidFill>
                <a:srgbClr val="0000CC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b="1" dirty="0" smtClean="0">
                <a:latin typeface="Arial" pitchFamily="34" charset="0"/>
                <a:cs typeface="Arial" pitchFamily="34" charset="0"/>
              </a:rPr>
              <a:t>Machine Learning (ML)</a:t>
            </a:r>
            <a:r>
              <a:rPr lang="en-US" sz="2800" dirty="0" smtClean="0">
                <a:latin typeface="Arial" pitchFamily="34" charset="0"/>
                <a:cs typeface="Arial" pitchFamily="34" charset="0"/>
              </a:rPr>
              <a:t> is a branch of AI in which computers learn patterns from data rather than being explicitly programmed with every rule.</a:t>
            </a:r>
            <a:endParaRPr lang="en-IN" sz="2800" dirty="0"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8095381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>
                <a:solidFill>
                  <a:srgbClr val="0000CC"/>
                </a:solidFill>
              </a:rPr>
              <a:t>Types of Machine Learning</a:t>
            </a:r>
            <a:endParaRPr lang="en-IN" dirty="0">
              <a:solidFill>
                <a:srgbClr val="0000CC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 smtClean="0">
                <a:latin typeface="Arial" pitchFamily="34" charset="0"/>
                <a:cs typeface="Arial" pitchFamily="34" charset="0"/>
              </a:rPr>
              <a:t>Supervised Learning</a:t>
            </a:r>
          </a:p>
          <a:p>
            <a:r>
              <a:rPr lang="en-US" sz="2400" dirty="0" smtClean="0">
                <a:latin typeface="Arial" pitchFamily="34" charset="0"/>
                <a:cs typeface="Arial" pitchFamily="34" charset="0"/>
              </a:rPr>
              <a:t>The training data contains </a:t>
            </a:r>
            <a:r>
              <a:rPr lang="en-US" sz="2400" b="1" dirty="0" smtClean="0">
                <a:latin typeface="Arial" pitchFamily="34" charset="0"/>
                <a:cs typeface="Arial" pitchFamily="34" charset="0"/>
              </a:rPr>
              <a:t>known answers/labels</a:t>
            </a:r>
            <a:r>
              <a:rPr lang="en-US" sz="2400" dirty="0" smtClean="0">
                <a:latin typeface="Arial" pitchFamily="34" charset="0"/>
                <a:cs typeface="Arial" pitchFamily="34" charset="0"/>
              </a:rPr>
              <a:t>.</a:t>
            </a:r>
          </a:p>
          <a:p>
            <a:endParaRPr lang="en-IN" sz="2800" dirty="0">
              <a:latin typeface="Arial" pitchFamily="34" charset="0"/>
              <a:cs typeface="Arial" pitchFamily="34" charset="0"/>
            </a:endParaRPr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3144" y="2564904"/>
            <a:ext cx="7906324" cy="22148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584" y="4941168"/>
            <a:ext cx="7885525" cy="16561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53877241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-243408"/>
            <a:ext cx="8229600" cy="1143000"/>
          </a:xfrm>
        </p:spPr>
        <p:txBody>
          <a:bodyPr/>
          <a:lstStyle/>
          <a:p>
            <a:r>
              <a:rPr lang="en-IN" dirty="0" smtClean="0">
                <a:solidFill>
                  <a:srgbClr val="0000CC"/>
                </a:solidFill>
              </a:rPr>
              <a:t>Types of Machine Learning</a:t>
            </a:r>
            <a:endParaRPr lang="en-IN" dirty="0">
              <a:solidFill>
                <a:srgbClr val="0000CC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08720"/>
            <a:ext cx="8229600" cy="5760640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2400" b="1" dirty="0" smtClean="0">
                <a:latin typeface="Arial" pitchFamily="34" charset="0"/>
                <a:cs typeface="Arial" pitchFamily="34" charset="0"/>
              </a:rPr>
              <a:t>Unsupervised Learning</a:t>
            </a:r>
          </a:p>
          <a:p>
            <a:r>
              <a:rPr lang="en-US" sz="2400" dirty="0" smtClean="0">
                <a:latin typeface="Arial" pitchFamily="34" charset="0"/>
                <a:cs typeface="Arial" pitchFamily="34" charset="0"/>
              </a:rPr>
              <a:t>The data does </a:t>
            </a:r>
            <a:r>
              <a:rPr lang="en-US" sz="2400" b="1" dirty="0" smtClean="0">
                <a:latin typeface="Arial" pitchFamily="34" charset="0"/>
                <a:cs typeface="Arial" pitchFamily="34" charset="0"/>
              </a:rPr>
              <a:t>not have predefined labels</a:t>
            </a:r>
            <a:r>
              <a:rPr lang="en-US" sz="2400" dirty="0" smtClean="0">
                <a:latin typeface="Arial" pitchFamily="34" charset="0"/>
                <a:cs typeface="Arial" pitchFamily="34" charset="0"/>
              </a:rPr>
              <a:t>.</a:t>
            </a:r>
          </a:p>
          <a:p>
            <a:r>
              <a:rPr lang="en-US" sz="2400" dirty="0" smtClean="0">
                <a:latin typeface="Arial" pitchFamily="34" charset="0"/>
                <a:cs typeface="Arial" pitchFamily="34" charset="0"/>
              </a:rPr>
              <a:t>The system tries to discover patterns or groups.</a:t>
            </a:r>
          </a:p>
          <a:p>
            <a:pPr marL="0" indent="0">
              <a:buNone/>
            </a:pPr>
            <a:r>
              <a:rPr lang="en-US" sz="2400" b="1" dirty="0" smtClean="0">
                <a:latin typeface="Arial" pitchFamily="34" charset="0"/>
                <a:cs typeface="Arial" pitchFamily="34" charset="0"/>
              </a:rPr>
              <a:t>Example 1: News Article Grouping</a:t>
            </a:r>
            <a:endParaRPr lang="en-US" sz="2400" dirty="0" smtClean="0">
              <a:latin typeface="Arial" pitchFamily="34" charset="0"/>
              <a:cs typeface="Arial" pitchFamily="34" charset="0"/>
            </a:endParaRPr>
          </a:p>
          <a:p>
            <a:r>
              <a:rPr lang="en-US" sz="2400" dirty="0" smtClean="0">
                <a:latin typeface="Arial" pitchFamily="34" charset="0"/>
                <a:cs typeface="Arial" pitchFamily="34" charset="0"/>
              </a:rPr>
              <a:t>Input: Thousands of news articles, no topic labels</a:t>
            </a:r>
          </a:p>
          <a:p>
            <a:r>
              <a:rPr lang="en-US" sz="2400" dirty="0" smtClean="0">
                <a:latin typeface="Arial" pitchFamily="34" charset="0"/>
                <a:cs typeface="Arial" pitchFamily="34" charset="0"/>
              </a:rPr>
              <a:t>Model discovers: Articles naturally cluster into groups like "sports," "politics," "technology" based on word patterns</a:t>
            </a:r>
          </a:p>
          <a:p>
            <a:pPr marL="0" indent="0">
              <a:buNone/>
            </a:pPr>
            <a:r>
              <a:rPr lang="en-US" sz="2400" b="1" dirty="0" smtClean="0">
                <a:latin typeface="Arial" pitchFamily="34" charset="0"/>
                <a:cs typeface="Arial" pitchFamily="34" charset="0"/>
              </a:rPr>
              <a:t>Example 2: Customer Segmentation (Clustering)</a:t>
            </a:r>
            <a:endParaRPr lang="en-US" sz="2400" dirty="0" smtClean="0">
              <a:latin typeface="Arial" pitchFamily="34" charset="0"/>
              <a:cs typeface="Arial" pitchFamily="34" charset="0"/>
            </a:endParaRPr>
          </a:p>
          <a:p>
            <a:r>
              <a:rPr lang="en-US" sz="2400" dirty="0" smtClean="0">
                <a:latin typeface="Arial" pitchFamily="34" charset="0"/>
                <a:cs typeface="Arial" pitchFamily="34" charset="0"/>
              </a:rPr>
              <a:t>Input: Customer data (age, spending habits, purchase frequency) — no labels</a:t>
            </a:r>
          </a:p>
          <a:p>
            <a:r>
              <a:rPr lang="en-US" sz="2400" dirty="0" smtClean="0">
                <a:latin typeface="Arial" pitchFamily="34" charset="0"/>
                <a:cs typeface="Arial" pitchFamily="34" charset="0"/>
              </a:rPr>
              <a:t>Model discovers: Group A = "young, frequent small purchases," Group B = "older, occasional large purchases"</a:t>
            </a:r>
          </a:p>
          <a:p>
            <a:endParaRPr lang="en-US" sz="2400" dirty="0" smtClean="0"/>
          </a:p>
          <a:p>
            <a:endParaRPr lang="en-US" sz="2400" dirty="0" smtClean="0">
              <a:latin typeface="Arial" pitchFamily="34" charset="0"/>
              <a:cs typeface="Arial" pitchFamily="34" charset="0"/>
            </a:endParaRPr>
          </a:p>
          <a:p>
            <a:endParaRPr lang="en-IN" sz="2800" dirty="0"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489843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2649" y="-99392"/>
            <a:ext cx="8229600" cy="1143000"/>
          </a:xfrm>
        </p:spPr>
        <p:txBody>
          <a:bodyPr/>
          <a:lstStyle/>
          <a:p>
            <a:r>
              <a:rPr lang="en-IN" dirty="0" smtClean="0">
                <a:solidFill>
                  <a:srgbClr val="0000CC"/>
                </a:solidFill>
              </a:rPr>
              <a:t>Types of Machine Learning</a:t>
            </a:r>
            <a:endParaRPr lang="en-IN" dirty="0">
              <a:solidFill>
                <a:srgbClr val="0000CC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96752"/>
            <a:ext cx="8229600" cy="547260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 smtClean="0">
                <a:latin typeface="Arial" pitchFamily="34" charset="0"/>
                <a:cs typeface="Arial" pitchFamily="34" charset="0"/>
              </a:rPr>
              <a:t>Unsupervised Learning</a:t>
            </a:r>
          </a:p>
          <a:p>
            <a:pPr marL="0" indent="0">
              <a:buNone/>
            </a:pPr>
            <a:endParaRPr lang="en-US" sz="2400" dirty="0" smtClean="0"/>
          </a:p>
          <a:p>
            <a:endParaRPr lang="en-US" sz="2400" dirty="0" smtClean="0">
              <a:latin typeface="Arial" pitchFamily="34" charset="0"/>
              <a:cs typeface="Arial" pitchFamily="34" charset="0"/>
            </a:endParaRPr>
          </a:p>
          <a:p>
            <a:endParaRPr lang="en-IN" sz="2800" dirty="0">
              <a:latin typeface="Arial" pitchFamily="34" charset="0"/>
              <a:cs typeface="Arial" pitchFamily="34" charset="0"/>
            </a:endParaRPr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04" y="1988840"/>
            <a:ext cx="8939891" cy="31683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2873511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2649" y="-99392"/>
            <a:ext cx="8229600" cy="1143000"/>
          </a:xfrm>
        </p:spPr>
        <p:txBody>
          <a:bodyPr/>
          <a:lstStyle/>
          <a:p>
            <a:r>
              <a:rPr lang="en-IN" dirty="0" smtClean="0">
                <a:solidFill>
                  <a:srgbClr val="0000CC"/>
                </a:solidFill>
              </a:rPr>
              <a:t>Reinforcement Learning</a:t>
            </a:r>
            <a:endParaRPr lang="en-IN" dirty="0">
              <a:solidFill>
                <a:srgbClr val="0000CC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96752"/>
            <a:ext cx="8229600" cy="547260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 smtClean="0">
                <a:latin typeface="Arial" pitchFamily="34" charset="0"/>
                <a:cs typeface="Arial" pitchFamily="34" charset="0"/>
              </a:rPr>
              <a:t>The model (called an "agent") learns by trial and error</a:t>
            </a:r>
          </a:p>
          <a:p>
            <a:pPr marL="0" indent="0">
              <a:buNone/>
            </a:pPr>
            <a:endParaRPr lang="en-US" sz="2400" dirty="0" smtClean="0">
              <a:latin typeface="Arial" pitchFamily="34" charset="0"/>
              <a:cs typeface="Arial" pitchFamily="34" charset="0"/>
            </a:endParaRPr>
          </a:p>
          <a:p>
            <a:endParaRPr lang="en-US" sz="2400" dirty="0" smtClean="0">
              <a:latin typeface="Arial" pitchFamily="34" charset="0"/>
              <a:cs typeface="Arial" pitchFamily="34" charset="0"/>
            </a:endParaRPr>
          </a:p>
          <a:p>
            <a:endParaRPr lang="en-IN" sz="2800" dirty="0">
              <a:latin typeface="Arial" pitchFamily="34" charset="0"/>
              <a:cs typeface="Arial" pitchFamily="34" charset="0"/>
            </a:endParaRPr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2125" y="1772816"/>
            <a:ext cx="8159750" cy="2044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19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2125" y="4125044"/>
            <a:ext cx="7734290" cy="19442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9114650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>
                <a:solidFill>
                  <a:srgbClr val="0000CC"/>
                </a:solidFill>
              </a:rPr>
              <a:t>Deep Learning</a:t>
            </a:r>
            <a:endParaRPr lang="en-IN" dirty="0">
              <a:solidFill>
                <a:srgbClr val="0000CC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sz="2600" b="1" dirty="0" smtClean="0">
                <a:latin typeface="Arial" pitchFamily="34" charset="0"/>
                <a:cs typeface="Arial" pitchFamily="34" charset="0"/>
              </a:rPr>
              <a:t>Deep Learning</a:t>
            </a:r>
            <a:r>
              <a:rPr lang="en-US" sz="2600" dirty="0" smtClean="0">
                <a:latin typeface="Arial" pitchFamily="34" charset="0"/>
                <a:cs typeface="Arial" pitchFamily="34" charset="0"/>
              </a:rPr>
              <a:t> is a type of machine learning that uses </a:t>
            </a:r>
            <a:r>
              <a:rPr lang="en-US" sz="2600" b="1" dirty="0" smtClean="0">
                <a:latin typeface="Arial" pitchFamily="34" charset="0"/>
                <a:cs typeface="Arial" pitchFamily="34" charset="0"/>
              </a:rPr>
              <a:t>artificial neural networks with multiple layers</a:t>
            </a:r>
            <a:r>
              <a:rPr lang="en-US" sz="2600" dirty="0" smtClean="0">
                <a:latin typeface="Arial" pitchFamily="34" charset="0"/>
                <a:cs typeface="Arial" pitchFamily="34" charset="0"/>
              </a:rPr>
              <a:t>.</a:t>
            </a:r>
          </a:p>
          <a:p>
            <a:r>
              <a:rPr lang="en-IN" sz="2600" b="1" dirty="0" smtClean="0">
                <a:latin typeface="Arial" pitchFamily="34" charset="0"/>
                <a:cs typeface="Arial" pitchFamily="34" charset="0"/>
              </a:rPr>
              <a:t>Applications</a:t>
            </a:r>
          </a:p>
          <a:p>
            <a:r>
              <a:rPr lang="en-IN" sz="2600" dirty="0" smtClean="0">
                <a:latin typeface="Arial" pitchFamily="34" charset="0"/>
                <a:cs typeface="Arial" pitchFamily="34" charset="0"/>
              </a:rPr>
              <a:t>Face recognition </a:t>
            </a:r>
          </a:p>
          <a:p>
            <a:r>
              <a:rPr lang="en-IN" sz="2600" dirty="0" smtClean="0">
                <a:latin typeface="Arial" pitchFamily="34" charset="0"/>
                <a:cs typeface="Arial" pitchFamily="34" charset="0"/>
              </a:rPr>
              <a:t>Speech recognition </a:t>
            </a:r>
          </a:p>
          <a:p>
            <a:r>
              <a:rPr lang="en-IN" sz="2600" dirty="0" smtClean="0">
                <a:latin typeface="Arial" pitchFamily="34" charset="0"/>
                <a:cs typeface="Arial" pitchFamily="34" charset="0"/>
              </a:rPr>
              <a:t>Image classification </a:t>
            </a:r>
          </a:p>
          <a:p>
            <a:r>
              <a:rPr lang="en-IN" sz="2600" dirty="0" smtClean="0">
                <a:latin typeface="Arial" pitchFamily="34" charset="0"/>
                <a:cs typeface="Arial" pitchFamily="34" charset="0"/>
              </a:rPr>
              <a:t>Autonomous vehicles </a:t>
            </a:r>
          </a:p>
          <a:p>
            <a:r>
              <a:rPr lang="en-IN" sz="2600" dirty="0" smtClean="0">
                <a:latin typeface="Arial" pitchFamily="34" charset="0"/>
                <a:cs typeface="Arial" pitchFamily="34" charset="0"/>
              </a:rPr>
              <a:t>Medical image analysis </a:t>
            </a:r>
          </a:p>
          <a:p>
            <a:r>
              <a:rPr lang="en-IN" sz="2600" dirty="0" smtClean="0">
                <a:latin typeface="Arial" pitchFamily="34" charset="0"/>
                <a:cs typeface="Arial" pitchFamily="34" charset="0"/>
              </a:rPr>
              <a:t>Generative AI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2196121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>
                <a:solidFill>
                  <a:srgbClr val="0000CC"/>
                </a:solidFill>
              </a:rPr>
              <a:t>Natural Language Processing (NLP)</a:t>
            </a:r>
            <a:endParaRPr lang="en-IN" dirty="0">
              <a:solidFill>
                <a:srgbClr val="0000CC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sz="2800" b="1" dirty="0" smtClean="0">
                <a:latin typeface="Arial" pitchFamily="34" charset="0"/>
                <a:cs typeface="Arial" pitchFamily="34" charset="0"/>
              </a:rPr>
              <a:t>Natural Language Processing (NLP)</a:t>
            </a:r>
            <a:r>
              <a:rPr lang="en-US" sz="2800" dirty="0" smtClean="0">
                <a:latin typeface="Arial" pitchFamily="34" charset="0"/>
                <a:cs typeface="Arial" pitchFamily="34" charset="0"/>
              </a:rPr>
              <a:t> is a branch of AI that enables computers to </a:t>
            </a:r>
            <a:r>
              <a:rPr lang="en-US" sz="2800" b="1" dirty="0" smtClean="0">
                <a:latin typeface="Arial" pitchFamily="34" charset="0"/>
                <a:cs typeface="Arial" pitchFamily="34" charset="0"/>
              </a:rPr>
              <a:t>understand, process, and generate human language</a:t>
            </a:r>
            <a:r>
              <a:rPr lang="en-US" sz="2800" dirty="0" smtClean="0">
                <a:latin typeface="Arial" pitchFamily="34" charset="0"/>
                <a:cs typeface="Arial" pitchFamily="34" charset="0"/>
              </a:rPr>
              <a:t>.</a:t>
            </a:r>
          </a:p>
          <a:p>
            <a:r>
              <a:rPr lang="en-IN" sz="2800" b="1" dirty="0" smtClean="0">
                <a:latin typeface="Arial" pitchFamily="34" charset="0"/>
                <a:cs typeface="Arial" pitchFamily="34" charset="0"/>
              </a:rPr>
              <a:t>Examples</a:t>
            </a:r>
          </a:p>
          <a:p>
            <a:r>
              <a:rPr lang="en-IN" sz="2800" dirty="0" err="1" smtClean="0">
                <a:latin typeface="Arial" pitchFamily="34" charset="0"/>
                <a:cs typeface="Arial" pitchFamily="34" charset="0"/>
              </a:rPr>
              <a:t>ChatGPT</a:t>
            </a:r>
            <a:r>
              <a:rPr lang="en-IN" sz="2800" dirty="0" smtClean="0">
                <a:latin typeface="Arial" pitchFamily="34" charset="0"/>
                <a:cs typeface="Arial" pitchFamily="34" charset="0"/>
              </a:rPr>
              <a:t> </a:t>
            </a:r>
          </a:p>
          <a:p>
            <a:r>
              <a:rPr lang="en-IN" sz="2800" dirty="0" smtClean="0">
                <a:latin typeface="Arial" pitchFamily="34" charset="0"/>
                <a:cs typeface="Arial" pitchFamily="34" charset="0"/>
              </a:rPr>
              <a:t>Translation systems </a:t>
            </a:r>
          </a:p>
          <a:p>
            <a:r>
              <a:rPr lang="en-IN" sz="2800" dirty="0" smtClean="0">
                <a:latin typeface="Arial" pitchFamily="34" charset="0"/>
                <a:cs typeface="Arial" pitchFamily="34" charset="0"/>
              </a:rPr>
              <a:t>Voice assistants </a:t>
            </a:r>
          </a:p>
          <a:p>
            <a:r>
              <a:rPr lang="en-IN" sz="2800" dirty="0" smtClean="0">
                <a:latin typeface="Arial" pitchFamily="34" charset="0"/>
                <a:cs typeface="Arial" pitchFamily="34" charset="0"/>
              </a:rPr>
              <a:t>Sentiment analysis </a:t>
            </a:r>
          </a:p>
          <a:p>
            <a:r>
              <a:rPr lang="en-IN" sz="2800" dirty="0" err="1" smtClean="0">
                <a:latin typeface="Arial" pitchFamily="34" charset="0"/>
                <a:cs typeface="Arial" pitchFamily="34" charset="0"/>
              </a:rPr>
              <a:t>Chatbots</a:t>
            </a:r>
            <a:r>
              <a:rPr lang="en-IN" sz="2800" dirty="0" smtClean="0">
                <a:latin typeface="Arial" pitchFamily="34" charset="0"/>
                <a:cs typeface="Arial" pitchFamily="34" charset="0"/>
              </a:rPr>
              <a:t> </a:t>
            </a:r>
          </a:p>
          <a:p>
            <a:r>
              <a:rPr lang="en-IN" sz="2800" dirty="0" smtClean="0">
                <a:latin typeface="Arial" pitchFamily="34" charset="0"/>
                <a:cs typeface="Arial" pitchFamily="34" charset="0"/>
              </a:rPr>
              <a:t>Grammar checking </a:t>
            </a:r>
          </a:p>
          <a:p>
            <a:r>
              <a:rPr lang="en-IN" sz="2800" dirty="0" smtClean="0">
                <a:latin typeface="Arial" pitchFamily="34" charset="0"/>
                <a:cs typeface="Arial" pitchFamily="34" charset="0"/>
              </a:rPr>
              <a:t>Speech recognition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9134510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>
                <a:solidFill>
                  <a:srgbClr val="0000CC"/>
                </a:solidFill>
              </a:rPr>
              <a:t>AI Algorithms</a:t>
            </a:r>
            <a:endParaRPr lang="en-IN" dirty="0">
              <a:solidFill>
                <a:srgbClr val="0000CC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 smtClean="0">
                <a:latin typeface="Arial" pitchFamily="34" charset="0"/>
                <a:cs typeface="Arial" pitchFamily="34" charset="0"/>
              </a:rPr>
              <a:t>AI algorithms process data and help a system </a:t>
            </a:r>
            <a:r>
              <a:rPr lang="en-US" sz="2400" b="1" dirty="0" smtClean="0">
                <a:latin typeface="Arial" pitchFamily="34" charset="0"/>
                <a:cs typeface="Arial" pitchFamily="34" charset="0"/>
              </a:rPr>
              <a:t>learn patterns, make predictions, or make decisions</a:t>
            </a:r>
            <a:r>
              <a:rPr lang="en-US" sz="2400" dirty="0" smtClean="0">
                <a:latin typeface="Arial" pitchFamily="34" charset="0"/>
                <a:cs typeface="Arial" pitchFamily="34" charset="0"/>
              </a:rPr>
              <a:t>.</a:t>
            </a:r>
          </a:p>
          <a:p>
            <a:r>
              <a:rPr lang="en-US" sz="2400" b="1" dirty="0" smtClean="0">
                <a:latin typeface="Arial" pitchFamily="34" charset="0"/>
                <a:cs typeface="Arial" pitchFamily="34" charset="0"/>
              </a:rPr>
              <a:t>Examples include:</a:t>
            </a:r>
          </a:p>
          <a:p>
            <a:r>
              <a:rPr lang="en-US" sz="2400" dirty="0" smtClean="0">
                <a:latin typeface="Arial" pitchFamily="34" charset="0"/>
                <a:cs typeface="Arial" pitchFamily="34" charset="0"/>
              </a:rPr>
              <a:t>Decision trees </a:t>
            </a:r>
          </a:p>
          <a:p>
            <a:r>
              <a:rPr lang="en-US" sz="2400" dirty="0" smtClean="0">
                <a:latin typeface="Arial" pitchFamily="34" charset="0"/>
                <a:cs typeface="Arial" pitchFamily="34" charset="0"/>
              </a:rPr>
              <a:t>Linear regression </a:t>
            </a:r>
          </a:p>
          <a:p>
            <a:r>
              <a:rPr lang="en-US" sz="2400" dirty="0" smtClean="0">
                <a:latin typeface="Arial" pitchFamily="34" charset="0"/>
                <a:cs typeface="Arial" pitchFamily="34" charset="0"/>
              </a:rPr>
              <a:t>Logistic regression </a:t>
            </a:r>
          </a:p>
          <a:p>
            <a:r>
              <a:rPr lang="en-US" sz="2400" dirty="0" smtClean="0">
                <a:latin typeface="Arial" pitchFamily="34" charset="0"/>
                <a:cs typeface="Arial" pitchFamily="34" charset="0"/>
              </a:rPr>
              <a:t>K-nearest neighbors </a:t>
            </a:r>
          </a:p>
          <a:p>
            <a:r>
              <a:rPr lang="en-US" sz="2400" dirty="0" smtClean="0">
                <a:latin typeface="Arial" pitchFamily="34" charset="0"/>
                <a:cs typeface="Arial" pitchFamily="34" charset="0"/>
              </a:rPr>
              <a:t>Neural networks </a:t>
            </a:r>
          </a:p>
          <a:p>
            <a:r>
              <a:rPr lang="en-US" sz="2400" dirty="0" smtClean="0">
                <a:latin typeface="Arial" pitchFamily="34" charset="0"/>
                <a:cs typeface="Arial" pitchFamily="34" charset="0"/>
              </a:rPr>
              <a:t>Clustering algorithms</a:t>
            </a:r>
          </a:p>
          <a:p>
            <a:endParaRPr lang="en-IN" sz="2400" dirty="0"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4045958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>
                <a:solidFill>
                  <a:srgbClr val="0000CC"/>
                </a:solidFill>
              </a:rPr>
              <a:t>AI in Action</a:t>
            </a:r>
            <a:endParaRPr lang="en-IN" dirty="0">
              <a:solidFill>
                <a:srgbClr val="0000CC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IN" sz="2400" dirty="0">
              <a:latin typeface="Arial" pitchFamily="34" charset="0"/>
              <a:cs typeface="Arial" pitchFamily="34" charset="0"/>
            </a:endParaRPr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528" y="1620253"/>
            <a:ext cx="8645479" cy="43520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4267299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49" y="26873"/>
            <a:ext cx="8686800" cy="1143000"/>
          </a:xfrm>
        </p:spPr>
        <p:txBody>
          <a:bodyPr>
            <a:normAutofit/>
          </a:bodyPr>
          <a:lstStyle/>
          <a:p>
            <a:r>
              <a:rPr lang="en-US" sz="3200" b="1" dirty="0" smtClean="0">
                <a:solidFill>
                  <a:srgbClr val="0000CC"/>
                </a:solidFill>
              </a:rPr>
              <a:t>Relationship Between AI, ML and Deep Learning</a:t>
            </a:r>
            <a:endParaRPr lang="en-IN" sz="3200" b="1" dirty="0">
              <a:solidFill>
                <a:srgbClr val="0000CC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IN" sz="2400" dirty="0">
              <a:latin typeface="Arial" pitchFamily="34" charset="0"/>
              <a:cs typeface="Arial" pitchFamily="34" charset="0"/>
            </a:endParaRPr>
          </a:p>
        </p:txBody>
      </p:sp>
      <p:pic>
        <p:nvPicPr>
          <p:cNvPr id="10243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56441" y="908720"/>
            <a:ext cx="5851864" cy="56886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0232493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99</TotalTime>
  <Words>687</Words>
  <Application>Microsoft Office PowerPoint</Application>
  <PresentationFormat>On-screen Show (4:3)</PresentationFormat>
  <Paragraphs>140</Paragraphs>
  <Slides>23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4" baseType="lpstr">
      <vt:lpstr>Office Theme</vt:lpstr>
      <vt:lpstr>Explore AI Basics</vt:lpstr>
      <vt:lpstr>Introduction</vt:lpstr>
      <vt:lpstr>AI vs. Human Intelligence</vt:lpstr>
      <vt:lpstr>AI vs. Human Intelligence</vt:lpstr>
      <vt:lpstr>AI vs. Human Intelligence</vt:lpstr>
      <vt:lpstr>AI vs. Human Intelligence</vt:lpstr>
      <vt:lpstr>Knowledge vs. Intelligence</vt:lpstr>
      <vt:lpstr>History of Artificial Intelligence</vt:lpstr>
      <vt:lpstr>History of Artificial Intelligence</vt:lpstr>
      <vt:lpstr>History of Artificial Intelligence</vt:lpstr>
      <vt:lpstr>History of Artificial Intelligence</vt:lpstr>
      <vt:lpstr>History of Artificial Intelligence</vt:lpstr>
      <vt:lpstr>Data Everywhere</vt:lpstr>
      <vt:lpstr>Machine Learning</vt:lpstr>
      <vt:lpstr>Types of Machine Learning</vt:lpstr>
      <vt:lpstr>Types of Machine Learning</vt:lpstr>
      <vt:lpstr>Types of Machine Learning</vt:lpstr>
      <vt:lpstr>Reinforcement Learning</vt:lpstr>
      <vt:lpstr>Deep Learning</vt:lpstr>
      <vt:lpstr>Natural Language Processing (NLP)</vt:lpstr>
      <vt:lpstr>AI Algorithms</vt:lpstr>
      <vt:lpstr>AI in Action</vt:lpstr>
      <vt:lpstr>Relationship Between AI, ML and Deep Learning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Fluency Explore AI Basics</dc:title>
  <dc:creator>Ashoka Rajan</dc:creator>
  <cp:lastModifiedBy>Ashoka Rajan</cp:lastModifiedBy>
  <cp:revision>13</cp:revision>
  <dcterms:created xsi:type="dcterms:W3CDTF">2026-08-09T04:43:31Z</dcterms:created>
  <dcterms:modified xsi:type="dcterms:W3CDTF">2026-09-01T06:12:59Z</dcterms:modified>
</cp:coreProperties>
</file>